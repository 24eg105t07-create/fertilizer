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3" Type="http://schemas.openxmlformats.org/officeDocument/2006/relationships/hyperlink" Target="https://github.com/24eg105t07-create/FERTILIZER" TargetMode="External"/><Relationship Id="rId1" Type="http://schemas.openxmlformats.org/officeDocument/2006/relationships/image" Target="../media/Slide-1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1" Type="http://schemas.openxmlformats.org/officeDocument/2006/relationships/image" Target="../media/Slide-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1" Type="http://schemas.openxmlformats.org/officeDocument/2006/relationships/image" Target="../media/Slide-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1" Type="http://schemas.openxmlformats.org/officeDocument/2006/relationships/image" Target="../media/Slide-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1" Type="http://schemas.openxmlformats.org/officeDocument/2006/relationships/image" Target="../media/Slide-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1" Type="http://schemas.openxmlformats.org/officeDocument/2006/relationships/image" Target="../media/Slide-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1" Type="http://schemas.openxmlformats.org/officeDocument/2006/relationships/image" Target="../media/Slide-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1" Type="http://schemas.openxmlformats.org/officeDocument/2006/relationships/image" Target="../media/Slide-1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griwise-fertilizer.onrender.com" TargetMode="External"/><Relationship Id="rId3" Type="http://schemas.openxmlformats.org/officeDocument/2006/relationships/hyperlink" Target="https://agriwise-fertilizer.onrender.com" TargetMode="External"/><Relationship Id="rId4" Type="http://schemas.openxmlformats.org/officeDocument/2006/relationships/hyperlink" Target="https://github.com/24eg105t07-create/FERTILIZER" TargetMode="External"/><Relationship Id="rId1" Type="http://schemas.openxmlformats.org/officeDocument/2006/relationships/image" Target="../media/Slide-11-image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0725912" cy="1920240"/>
          </a:xfrm>
          <a:prstGeom prst="rect">
            <a:avLst/>
          </a:prstGeom>
          <a:solidFill>
            <a:srgbClr val="F0FDF4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46304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AGRIWISE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87452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Smart Fertilizer Recommendation &amp; Precision Agronomy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2514600"/>
            <a:ext cx="10177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closed-loop 4R nutrient stewardship platform translating chemical soil tests into stage-specific crop calendars with human-in-the-loop clinical review.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516636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474720"/>
            <a:ext cx="5166360" cy="411480"/>
          </a:xfrm>
          <a:prstGeom prst="rect">
            <a:avLst/>
          </a:prstGeom>
          <a:solidFill>
            <a:srgbClr val="0A4D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747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TAXONOMY &amp; CLASSIFICATION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800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Sector Selected: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Agriculture &amp; Precision Agronomy
</a:t>
            </a:r>
            <a:pPr indent="0" marL="0">
              <a:buNone/>
            </a:pPr>
            <a:r>
              <a:rPr lang="en-US" sz="12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Sub-System Selected: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Soil Health Management &amp; Fertilizer Decision Support System (DSS)
</a:t>
            </a:r>
            <a:pPr indent="0" marL="0">
              <a:buNone/>
            </a:pPr>
            <a:r>
              <a:rPr lang="en-US" sz="12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Prototype Deployment:
</a:t>
            </a:r>
            <a:pPr indent="0" marL="0">
              <a:buNone/>
            </a:pPr>
            <a:r>
              <a:rPr lang="en-US" sz="1100" b="1" u="sng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https://agriwise-fertilizer.onrender.com
</a:t>
            </a:r>
            <a:pPr indent="0" marL="0">
              <a:buNone/>
            </a:pPr>
            <a:r>
              <a:rPr lang="en-US" sz="12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Code Repository:
</a:t>
            </a:r>
            <a:pPr indent="0" marL="0">
              <a:buNone/>
            </a:pPr>
            <a:r>
              <a:rPr lang="en-US" sz="1050" u="sng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https://github.com/24eg105t07-create/FERTILIZER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3474720"/>
            <a:ext cx="516636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3474720"/>
            <a:ext cx="5166360" cy="411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34747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&amp; INSTITUTIONAL CREDENTIALS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73952" y="3977640"/>
            <a:ext cx="4800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Name: </a:t>
            </a:r>
            <a:pPr indent="0" marL="0">
              <a:buNone/>
            </a:pPr>
            <a:r>
              <a:rPr lang="en-US" sz="12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Vardhan Reddy
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Roll Number: </a:t>
            </a:r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24EG105T07
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Department: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Department of Computer Science &amp; Engineering
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Institution:
</a:t>
            </a:r>
            <a:pPr indent="0" marL="0">
              <a:buNone/>
            </a:pPr>
            <a:r>
              <a:rPr lang="en-US" sz="12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Anurag University, Venkatapur, Hyderabad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Academic Session: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2024 - 2026 | Technical Project Seminar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6473952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Anurag University  |  Dept. of Computer Science &amp; Engineering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Table of Contents Aligned with Anurag University Evaluation Rubric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2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66360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58191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A4D2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81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44752" y="153619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Ambitious "How Might We..."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Framing high-impact precision nutrient delivery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5166360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35915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A4D2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359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44752" y="231343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Problem Statement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Current state of blanket broadcasting and chemical waste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5166360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13639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A4D2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136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44752" y="30906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Severity of the Problem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Soil acidification, crop response drop &amp; aquifer nitrates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5166360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91363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A4D2E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9136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44752" y="386791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Stakeholder Identification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Farmers, chemical dealers, extension labs, consumers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5166360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469087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A4D2E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6908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44752" y="464515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Root Cause Analysis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5-Whys methodology tracing systemic failure nodes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5349240"/>
            <a:ext cx="5166360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546811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A4D2E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4681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44752" y="542239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Conflicting Stakeholder Priorities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Dealer volume quotas vs farmer expenditure reduction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91072" y="1463040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618488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0695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6184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22592" y="15544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Ideation (Possibility Space)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Multi-criteria evaluation of 4 technological alternatives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1072" y="2359152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251460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2514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22592" y="245059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Idea Proposal (Chosen Solution)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AgriWise 4R clinical decision-support web platform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1072" y="3255264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341071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410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22592" y="334670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Prototype Design &amp; Architecture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3-tier Node/Express/MySQL engine and live URL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91072" y="4151376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4306824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0695C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43068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22592" y="4242816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Implementation Challenges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Soil texture buffering, unit divergence &amp; rural UX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91072" y="5047488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5202936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0695C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52029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22592" y="513892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Scope of Improvement &amp; References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OCR card scanning, voice UI, NDVI &amp; literature review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OF A PERFECT SYSTEM ("NO PROBLEM" SCENARIO)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Question: If there is "No Problem", how should the system function? What will happen if solved? Explain using infographic.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3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725912" cy="1325880"/>
          </a:xfrm>
          <a:prstGeom prst="rect">
            <a:avLst/>
          </a:prstGeom>
          <a:solidFill>
            <a:srgbClr val="F0FDF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CLOSED-LOOP 4R NUTRIENT EQUILIBRIUM: ZERO CHEMICAL WASTE, RESTORED SOIL HEALTH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Precise Chemical Match: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farm fields receive individualized nutrient blends calculated against measured soil chemistry (N-P-K-pH-EC-OC) and crop uptake needs.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Macro-Nutrient Rebalancing: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distorted NPK consumption ratio normalizes from 8.2:3.2:1 back to the scientifically optimal 4:2:1.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Economic &amp; Ecological Synergy: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Fertilizer application costs plunge by 25-35%; crop yields rise by 15-22%; zero nitrogen runoff or groundwater nitrate contamination.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INFOGRAPHIC: END-TO-END AUTOMATED 4R NUTRIENT WORKFLOW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20040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Soil Test Ingestion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4251960"/>
            <a:ext cx="177393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Farmer uploads official lab card; system ingests N, P, K, pH, EC, and Organic Carbon values.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79192" y="4389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907792" y="320040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7792" y="320040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2907792" y="32004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99232" y="36758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Deterministic 4R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4251960"/>
            <a:ext cx="177393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Rules engine computes nutrient deficit against ICAR target crop yield curves and soil buffer capacity.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55464" y="4389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4064" y="320040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4064" y="320040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0D47A1"/>
          </a:solidFill>
          <a:ln/>
        </p:spPr>
      </p:sp>
      <p:sp>
        <p:nvSpPr>
          <p:cNvPr id="22" name="Text 20"/>
          <p:cNvSpPr/>
          <p:nvPr/>
        </p:nvSpPr>
        <p:spPr>
          <a:xfrm>
            <a:off x="5084064" y="32004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75504" y="36758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Clinical Agronomist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93792" y="4251960"/>
            <a:ext cx="177393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Human-in-the-loop expert verifies abnormal profiles, flags toxicities, and signs off digitally.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31736" y="4389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60336" y="320040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0336" y="320040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7260336" y="32004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51776" y="36758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6-Stage Crop Calendar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70064" y="4251960"/>
            <a:ext cx="177393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Generates split schedules: Basal, Tillering, Panicle, Booting, Flowering, and Maturation.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08008" y="4389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36608" y="3200400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36608" y="320040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0A4D2E"/>
          </a:solidFill>
          <a:ln/>
        </p:spPr>
      </p:sp>
      <p:sp>
        <p:nvSpPr>
          <p:cNvPr id="34" name="Text 32"/>
          <p:cNvSpPr/>
          <p:nvPr/>
        </p:nvSpPr>
        <p:spPr>
          <a:xfrm>
            <a:off x="9436608" y="32004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28048" y="36758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Zero-Waste Harvest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46336" y="4251960"/>
            <a:ext cx="177393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Soil microbial regeneration, elimination of chemical runoff, and maximal grain output per rupee spent.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STATE, SYMPTOMS &amp; STAKEHOLDERS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Question: State current state + symptoms, point of concern (why is it a problem?), and who are affected.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4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19856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419856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CURRENT STATE &amp; SYMPTOMS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314553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Habitual Blanket Broadcasting: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82% of farmers apply standard quantities of Urea and DAP without measuring existing soil nutrients.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Extreme NPK Skew: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national application ratio is 8.2:3.2:1 (up to 31.4:8.0:1 in intensive zones) vs the scientific 4:2:1 standard.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Massive Nitrogen Loss: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to 70% of applied urea nitrogen is lost through ammonia gas volatilization and subsoil nitrate leaching.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Rampant Hidden Hunger: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Neglect of micronutrients has left 36.5% of soils deficient in Zinc, 23.2% in Boron, and 24.7% in Sulfur.
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19856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9976" y="1463040"/>
            <a:ext cx="3419856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471416" y="146304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POINT OF CONCERN (WHY CRITICAL?)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17136" y="1965960"/>
            <a:ext cx="314553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Collapsing Crop Response Ratio: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 produced per kg of NPK has dropped precipitously from 13.4 kg (1970) to 3.7 kg today (a 72% efficiency loss).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Severe Soil Degradation: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urea over-application causes soil acidification, structural compaction, and depletion of organic matter (&lt;0.4%).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Groundwater Nitrate Poisoning: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Nitrate levels in &gt;380 rural Indian districts exceed 45 mg/L, causing Blue Baby Syndrome and health hazards.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Farmer Debt Trap: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Fertilizer expenses consume 25-30% of total input costs, yet deliver diminishing or stagnant crop yields.
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28432" y="1463040"/>
            <a:ext cx="3419856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8432" y="1463040"/>
            <a:ext cx="3419856" cy="411480"/>
          </a:xfrm>
          <a:prstGeom prst="rect">
            <a:avLst/>
          </a:prstGeom>
          <a:solidFill>
            <a:srgbClr val="0A4D2E"/>
          </a:solidFill>
          <a:ln/>
        </p:spPr>
      </p:sp>
      <p:sp>
        <p:nvSpPr>
          <p:cNvPr id="15" name="Text 13"/>
          <p:cNvSpPr/>
          <p:nvPr/>
        </p:nvSpPr>
        <p:spPr>
          <a:xfrm>
            <a:off x="8119872" y="146304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AFFECTED STAKEHOLDERS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65592" y="1965960"/>
            <a:ext cx="314553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Smallholder &amp; Marginal Farmers: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escalating chemical input costs and suffer declining soil fertility and debt accumulation.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Rural Communities &amp; Citizens: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nitrate-contaminated borewell drinking water and chemical-dense agricultural runoff.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Soil Testing Labs &amp; Agronomists: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millions of Soil Health Cards that sit unread due to lack of practical dosage translation.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Government &amp; National Treasury: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Bears an immense annual fertilizer subsidy burden (&gt;₹1.75 Lakh Crore), much of which is literally wasted.
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&amp; CONFLICTING PRIORITIES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Question: Identify root cause using RCA tools (5-Whys/Fishbone). Stakeholders causing vs affected. Conflicting priorities.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5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57800" cy="411480"/>
          </a:xfrm>
          <a:prstGeom prst="rect">
            <a:avLst/>
          </a:prstGeom>
          <a:solidFill>
            <a:srgbClr val="0A4D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5-WHYS ROOT CAUSE ANALYSIS METHODOLOGY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498348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116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1: Why are Indian farmers overusing Urea and DAP?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Because they follow ancestral habits and local input dealer recommendations rather than soil tests.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2779776"/>
            <a:ext cx="498348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254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2: Why do farmers rely on input dealers rather than Soil Health Cards?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Soil cards contain lab ppm/kg jargon that farmers cannot translate into physical bag dosages.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3593592"/>
            <a:ext cx="498348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3931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3: Why can’t farmers interpret chemical soil metrics?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Existing government reports lack crop-specific, stage-by-stage temporal application guidance.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8680" y="4407408"/>
            <a:ext cx="498348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45312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4: Why are all fertilizers applied in one or two bulk applications?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Farmers lack awareness of 4R nutrient stewardship (Right Source, Rate, Time, and Method).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" y="5221224"/>
            <a:ext cx="498348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26694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5: ROOT CAUSE: Systemic Information &amp; Tooling Void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Absence of an explainable, accessible digital decision support system that converts raw laboratory chemistry into clinical, agronomist-validated, stage-wise crop schedules.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9632" y="14630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463040"/>
            <a:ext cx="5257800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382512" y="14630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DYNAMICS &amp; CONFLICTING PRIORITIES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82512" y="1965960"/>
            <a:ext cx="4892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Fertilizer Retailers (Causing Problem):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commercial bag sales and distributor volume commission.
</a:t>
            </a:r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Conflict: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Pushing high-margin bulk Urea/DAP contradicts the farmer's need to cut total fertilizer volume and apply specialized micronutrients.
</a:t>
            </a:r>
            <a:pPr indent="0" marL="0">
              <a:buNone/>
            </a:pPr>
            <a:r>
              <a:rPr lang="en-US" sz="1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Smallholder Farmers (Affected by Problem):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immediate harvest yields against seasonal weather risks with minimal outlay.
</a:t>
            </a:r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Conflict: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crop failure induces emergency over-application of nitrogen, accelerating long-term soil bankruptcy.
</a:t>
            </a:r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Government Subsidies &amp; Policy Distortion: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food grain security through highly subsidized pricing for urea.
</a:t>
            </a:r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Conflict: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price disparity (Urea heavily subsidized vs unsubsidized Potash/Zinc) incentivizes farmers to overbuy nitrogen.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DATA-BASED EVIDENCE &amp; LITERATURE VALIDATION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Question: Mention evidence based on data to prove the problem exists. Refer to articles, research papers, reports, surveys.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6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45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72% DROP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62763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Response Ratio Collapse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67712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Fertiliser Association of India (FAI, 2022)
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1970, 1 kg of balanced NPK fertilizer produced 13.4 kg of food grain in India. By 2022, that response dropped to only 3.7 kg grain per kg NPK due to severe multi-nutrient depletion and soil exhaustion.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99632" y="14630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1645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1645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36.5% DEFICIENT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65592" y="162763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Micronutrient Depletion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82512" y="2267712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ICAR-Indian Institute of Soil Science (IISS, 2021)
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GPS-based national soil mapping across 500+ districts revealed that 36.5% of soils are deficient in Zinc, 23.2% in Boron, 24.7% in Sulfur, and 12.8% in Iron, severely capping yield potential despite heavy NPK use.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148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47A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&gt;45 mg/L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409651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Groundwater Nitrate Pollution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736592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Central Ground Water Board (CGWB, 2021)
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380 agricultural districts report groundwater nitrate concentrations exceeding the BIS/WHO safe drinking water limit of 45 mg/L, directly tracing to excessive urea broadcasting in irrigated belts.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99632" y="393192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41148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A4D2E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4114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&lt; 18% USE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65592" y="409651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Health Card Adoption Failure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82512" y="4736592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NITI Aayog &amp; Ministry of Agriculture Evaluation
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surveys revealed that under 18% of farmers actually implemented Soil Health Card recommendations due to lack of dosage clarity, absence of stage-wise timing, and contradictory dealer advice.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IDEATION: SYSTEMIC EXPLORATION OF ALTERNATIVES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Question: Brainstorm and state every possibility to solve the problem (minimum 4 distinct approaches).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7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23744" cy="480060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ALTERNATIVE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Field Extension Camps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23042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physical agronomists to visit villages and conduct in-person soil diagnosis.
</a:t>
            </a:r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(+):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personal trust, handles illiteracy.
</a:t>
            </a:r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Bottleneck (-):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Prohibitive manpower cost; India has only 1 extension officer per 1,162 farmers; cannot scale.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5779008"/>
            <a:ext cx="2249424" cy="384048"/>
          </a:xfrm>
          <a:prstGeom prst="roundRect">
            <a:avLst>
              <a:gd name="adj" fmla="val 14286"/>
            </a:avLst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779008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UNSUSTAINABLE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65576" y="1463040"/>
            <a:ext cx="2523744" cy="480060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5576" y="1463040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00695C"/>
          </a:solidFill>
          <a:ln/>
        </p:spPr>
      </p:sp>
      <p:sp>
        <p:nvSpPr>
          <p:cNvPr id="14" name="Text 12"/>
          <p:cNvSpPr/>
          <p:nvPr/>
        </p:nvSpPr>
        <p:spPr>
          <a:xfrm>
            <a:off x="3465576" y="14630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ALTERNATIVE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7016" y="192024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Regional Printing &amp; SMS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75304" y="2560320"/>
            <a:ext cx="23042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generic district-level fertilizer charts via SMS or printed pamphlets.
</a:t>
            </a:r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(+):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cheap, reaches basic feature phones.
</a:t>
            </a:r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Bottleneck (-):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personalization; fails because individual farm soils vary widely even within the same village.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02736" y="5779008"/>
            <a:ext cx="2249424" cy="384048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3602736" y="5779008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INEFFECTIVE BLANKET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9632" y="1463040"/>
            <a:ext cx="2523744" cy="480060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463040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006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14630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ALTERNATIVE 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91072" y="192024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In-Field Optical/Electrochemical IoT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560320"/>
            <a:ext cx="23042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portable spectrophotometric or electrochemical NPK sensor probes in every farm.
</a:t>
            </a:r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(+):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telemetry, continuous in-situ data.
</a:t>
            </a:r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Bottleneck (-):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suffer severe calibration drift, electrochemical fouling; high device cost (₹15,000+).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36792" y="5779008"/>
            <a:ext cx="2249424" cy="384048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6336792" y="5779008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CAPEX PROHIBITIVE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33688" y="1463040"/>
            <a:ext cx="2523744" cy="4800600"/>
          </a:xfrm>
          <a:prstGeom prst="roundRect">
            <a:avLst>
              <a:gd name="adj" fmla="val 2899"/>
            </a:avLst>
          </a:prstGeom>
          <a:solidFill>
            <a:srgbClr val="F0FDF4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33688" y="1463040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0A4D2E"/>
          </a:solidFill>
          <a:ln/>
        </p:spPr>
      </p:sp>
      <p:sp>
        <p:nvSpPr>
          <p:cNvPr id="28" name="Text 26"/>
          <p:cNvSpPr/>
          <p:nvPr/>
        </p:nvSpPr>
        <p:spPr>
          <a:xfrm>
            <a:off x="8933688" y="14630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ALTERNATIVE D (SELECTED)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25128" y="192024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AgriWise 4R AI Decision Web Platform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43416" y="2560320"/>
            <a:ext cx="23042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cloud portal translating standardized lab soil tests into dynamic 6-stage schedules with human review.
</a:t>
            </a:r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(+):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farmer hardware cost; explainable WHY logic; clinical agronomist sign-off; scalable.
</a:t>
            </a:r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Bottleneck (-):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basic internet access; dependency on initial soil sample lab testing.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70848" y="5779008"/>
            <a:ext cx="2249424" cy="384048"/>
          </a:xfrm>
          <a:prstGeom prst="roundRect">
            <a:avLst>
              <a:gd name="adj" fmla="val 14286"/>
            </a:avLst>
          </a:prstGeom>
          <a:solidFill>
            <a:srgbClr val="0A4D2E"/>
          </a:solidFill>
          <a:ln/>
        </p:spPr>
      </p:sp>
      <p:sp>
        <p:nvSpPr>
          <p:cNvPr id="32" name="Text 30"/>
          <p:cNvSpPr/>
          <p:nvPr/>
        </p:nvSpPr>
        <p:spPr>
          <a:xfrm>
            <a:off x="9070848" y="5779008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CHOSEN PROPOSAL ★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PROPOSAL: AGRIWISE 4R PRECISION PLATFORM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Question: State chosen idea/concept, why chosen over alternatives, and unique value proposition.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8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725912" cy="1143000"/>
          </a:xfrm>
          <a:prstGeom prst="rect">
            <a:avLst/>
          </a:prstGeom>
          <a:solidFill>
            <a:srgbClr val="F0FDF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CHOSEN CONCEPT: AN EXPLAINABLE CLINICAL PRECISION AGRONOMY DSS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AgriWise is a cloud-native decision-support platform that transforms raw laboratory chemical soil metrics (N, P, K, pH, EC, OC) into actionable, stage-specific fertilizer applications. It combines deterministic agronomic rule algorithms with human-in-the-loop expert agronomist validation to guarantee both scientific accuracy and farmer confidence.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3419856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97480"/>
            <a:ext cx="3419856" cy="38404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97480"/>
            <a:ext cx="3236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CHOSEN OVER ALTERNATIVES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14553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Capital Expenditure: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costly hardware probes needed. Farmers utilize existing government or commercial soil testing labs.
</a:t>
            </a:r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 Scalability: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Cloud-hosted on Render; serves unlimited farmers simultaneously across districts without staffing bottlenecks.
</a:t>
            </a:r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Scientific Determinism: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ICAR Soil Test Crop Response (STCR) equations rather than black-box statistical guesses.
</a:t>
            </a:r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Bridging the Literacy Gap: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abstract ppm/EC numbers into actual physical fertilizer bag counts (e.g. 50 kg Urea, 25 kg MOP).
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379976" y="2697480"/>
            <a:ext cx="3419856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9976" y="2697480"/>
            <a:ext cx="3419856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4471416" y="2697480"/>
            <a:ext cx="3236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PILLARS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17136" y="3154680"/>
            <a:ext cx="314553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Dual-Portal Collaboration: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Farmer Interface for field records + Lead Agronomist Clinical Console for verification.
</a:t>
            </a:r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Explainable "WHY" Engine: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details exactly why a nutrient is prescribed based on soil deficiency thresholds.
</a:t>
            </a:r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6-Stage Split Calendar: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Divides nutrients into Basal, Early Tillering, Active Tillering, Panicle Initiation, Booting, and Maturation.
</a:t>
            </a:r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Lifecycle Status Pipeline: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tests progress through PENDING ➔ REVIEW_REQUIRED ➔ APPROVED ➔ DISPATCHED.
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28432" y="2697480"/>
            <a:ext cx="3419856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2697480"/>
            <a:ext cx="3419856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2697480"/>
            <a:ext cx="3236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VALUE PROPOSITION (UVP)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65592" y="3154680"/>
            <a:ext cx="314553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Human-in-the-Loop: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anomalies (e.g., pH &lt; 5.5, extreme salinity) require mandatory agronomist sign-off before reaching the farmer.
</a:t>
            </a:r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Economic Optimization: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wasteful over-application, cutting farmer fertilizer bills by 25-35% in field testing.
</a:t>
            </a:r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Ecological Regeneration: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Rebalances soil microbiome and mitigates groundwater nitrate contamination.
</a:t>
            </a:r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Deployment: 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functional, publicly accessible web application on Render with MySQL persistence.
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DESIGN &amp; SYSTEM ARCHITECTURE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Question: Draw prototype design / system architecture diagram. Explain working mechanism and technology stack.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9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419856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3419856" cy="411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PRESENTATION LAYER (UI/UX)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892808"/>
            <a:ext cx="31455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</a:t>
            </a:r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CSS3, Bootstrap 5.3, Vanilla JS, Chart.js, FontAwesome
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Farmer Portal: Farm profile, soil test upload, interactive radar charts, 6-stage application calendar.</a:t>
            </a:r>
            <a:endParaRPr lang="en-US" sz="95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/ Agronomist Console: Queue triage, anomaly verification, one-click approval &amp; prescription edit.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79976" y="1417320"/>
            <a:ext cx="3419856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9976" y="1417320"/>
            <a:ext cx="3419856" cy="411480"/>
          </a:xfrm>
          <a:prstGeom prst="rect">
            <a:avLst/>
          </a:prstGeom>
          <a:solidFill>
            <a:srgbClr val="0A4D2E"/>
          </a:solidFill>
          <a:ln/>
        </p:spPr>
      </p:sp>
      <p:sp>
        <p:nvSpPr>
          <p:cNvPr id="11" name="Text 9"/>
          <p:cNvSpPr/>
          <p:nvPr/>
        </p:nvSpPr>
        <p:spPr>
          <a:xfrm>
            <a:off x="4471416" y="141732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APPLICATION &amp; LOGIC LAYER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17136" y="1892808"/>
            <a:ext cx="31455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</a:t>
            </a:r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Express REST APIs, JWT Auth, BCrypt, 4R Engine
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Endpoints: /api/auth, /api/soil-test, /api/fertilizers, /api/fields.</a:t>
            </a:r>
            <a:endParaRPr lang="en-US" sz="95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4R Engine: STCR target yield algorithms, soil buffer weighting, nutrient deficiency rules.</a:t>
            </a:r>
            <a:endParaRPr lang="en-US" sz="95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Workflow: Automated severity flagging &amp; anomaly triaging.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28432" y="1417320"/>
            <a:ext cx="3419856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8432" y="1417320"/>
            <a:ext cx="3419856" cy="4114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5" name="Text 13"/>
          <p:cNvSpPr/>
          <p:nvPr/>
        </p:nvSpPr>
        <p:spPr>
          <a:xfrm>
            <a:off x="8119872" y="141732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DATA &amp; INFRASTRUCTURE LAYER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65592" y="1892808"/>
            <a:ext cx="31455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</a:t>
            </a:r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Cloud Database, Render Cloud Hosting, GitHub CI/CD
</a:t>
            </a:r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Relational Schema: users, farms, soil_tests, recommendations, fertilizer_catalog.</a:t>
            </a:r>
            <a:endParaRPr lang="en-US" sz="95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Deployment: Deployed on Render Cloud with automated continuous integration from GitHub.</a:t>
            </a:r>
            <a:endParaRPr lang="en-US" sz="95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Environment: SSL/TLS encryption, JWT authorization.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10725912" cy="1920240"/>
          </a:xfrm>
          <a:prstGeom prst="rect">
            <a:avLst/>
          </a:prstGeom>
          <a:solidFill>
            <a:srgbClr val="F8FAFC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348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WORKING MECHANISM &amp; DATA FLOW IN AGRIWISE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8006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2322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Registration &amp; Profiling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signs up, registers land boundaries, soil type (Red/Black/Alluvial), and target crop (Paddy/Cotton/Maize).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20440" y="48006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4846320"/>
            <a:ext cx="2322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Soil Test Submission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inputs official lab results: Nitrogen (kg/ha), Phosphorus, Potassium, pH, Electrical Conductivity, Organic Carbon %.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48006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4846320"/>
            <a:ext cx="2322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4R Algorithmic Processing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computes nutrient deficit against ICAR crop targets, calculates commercial bag requirements, and generates split calendar.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32520" y="48006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05672" y="4846320"/>
            <a:ext cx="2322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Clinical Review &amp; Dispatch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soil pH &lt; 5.5 (severe acidity) or salinity is extreme, flagged for Agronomist review. Once approved, delivered to farmer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CHALLENGES &amp; SCOPE OF IMPROVEMENT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Question: Implementation challenges faced during prototyping. Knowledge gaps identified. Scope of improvement.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10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57800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 &amp; KNOWLEDGE GAPS IDENTIFIED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4892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Laboratory Reporting Unit Divergence: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Challenge: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state labs report available nitrogen in divergent units (ppm vs kg/ha vs rating indices Low/Medium/High).
</a:t>
            </a:r>
            <a:pPr indent="0" marL="0">
              <a:buNone/>
            </a:pPr>
            <a:r>
              <a:rPr lang="en-US" sz="10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dynamic unit-conversion normalization layer in the backend API to standardize all metrics into kg/hectare equivalents.
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Soil Buffer Capacity &amp; Texture Variance: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Challenge: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 soils (Vertisols) retain nutrients significantly longer, whereas Sandy soils (Alfisols) suffer heavy potassium and nitrogen leaching.
</a:t>
            </a:r>
            <a:pPr indent="0" marL="0">
              <a:buNone/>
            </a:pPr>
            <a:r>
              <a:rPr lang="en-US" sz="10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Incorporated soil texture coefficients into the 4R split application calendar to modify basal vs top-dressing ratios.
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Cloud Deployment &amp; Database Persistence: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Challenge: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 cloud environments (Render) spin down during inactivity; secure SSL connection to cloud MySQL required strict certificate handling.
</a:t>
            </a:r>
            <a:pPr indent="0" marL="0">
              <a:buNone/>
            </a:pPr>
            <a:r>
              <a:rPr lang="en-US" sz="10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auto-reconnect connection pooling and lightweight health-check pinging.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63040"/>
            <a:ext cx="5257800" cy="411480"/>
          </a:xfrm>
          <a:prstGeom prst="rect">
            <a:avLst/>
          </a:prstGeom>
          <a:solidFill>
            <a:srgbClr val="0A4D2E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630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OF IMPROVEMENT &amp; ROADMAP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82512" y="1965960"/>
            <a:ext cx="4892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Mobile Computer Vision (OCR) Soil Card Reader: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Tesseract OCR / Google Cloud Vision to allow farmers to simply photograph paper Soil Health Cards, auto-populating all NPK and pH values instantly.
</a:t>
            </a:r>
            <a:pPr indent="0" marL="0">
              <a:buNone/>
            </a:pPr>
            <a:r>
              <a:rPr lang="en-US" sz="1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Vernacular Voice Interface &amp; WhatsApp Bot: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speech-to-text audio guidance in regional languages (Telugu, Hindi, Kannada, Tamil) and deliver stage fertilizer reminders directly via WhatsApp Business API.
</a:t>
            </a:r>
            <a:pPr indent="0" marL="0">
              <a:buNone/>
            </a:pPr>
            <a:r>
              <a:rPr lang="en-US" sz="1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Satellite NDVI &amp; Live Weather Synchronization: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Sentinel-2 satellite imagery to track vegetative vigor (NDVI) and pull OpenWeatherMap forecasts to prevent fertilizer broadcasting 48 hours prior to heavy rainfall events.
</a:t>
            </a:r>
            <a:pPr indent="0" marL="0">
              <a:buNone/>
            </a:pPr>
            <a:r>
              <a:rPr lang="en-US" sz="1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LoRaWAN In-Situ IoT Soil Moisture Telemetry: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Feature: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optional low-cost soil moisture and electrical conductivity probes for precision fertigation in commercial orchards and polyhouses.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REFERENCES, DEMONSTRATION LINKS &amp; CREDITS
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Artifacts, Scientific Literature, Institutional Acknowledgements &amp; Live Demonstration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64739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AgriWise: AI Precision Fertilizer DSS  |  Live App: </a:t>
            </a:r>
            <a:pPr indent="0" marL="0">
              <a:buNone/>
            </a:pPr>
            <a:r>
              <a:rPr lang="en-US" sz="900" u="sng" dirty="0">
                <a:solidFill>
                  <a:srgbClr val="0D47A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agriwise-fertilizer.onrender.com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|  Anurag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Slide 11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257800" cy="2286000"/>
          </a:xfrm>
          <a:prstGeom prst="rect">
            <a:avLst/>
          </a:prstGeom>
          <a:solidFill>
            <a:srgbClr val="F0FDF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57800" cy="384048"/>
          </a:xfrm>
          <a:prstGeom prst="rect">
            <a:avLst/>
          </a:prstGeom>
          <a:solidFill>
            <a:srgbClr val="0A4D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PROJECT DEMONSTRATION &amp; REPOSITORY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4892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Production Application:
</a:t>
            </a:r>
            <a:pPr indent="0" marL="0">
              <a:buNone/>
            </a:pPr>
            <a:r>
              <a:rPr lang="en-US" sz="1150" b="1" u="sng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https://agriwise-fertilizer.onrender.com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(Publicly accessible cloud deployment with full end-to-end functionality)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Source Code Repository:
</a:t>
            </a:r>
            <a:pPr indent="0" marL="0">
              <a:buNone/>
            </a:pPr>
            <a:r>
              <a:rPr lang="en-US" sz="1100" b="1" u="sng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https://github.com/24eg105t07-create/FERTILIZER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(Full-stack codebase: Node/Express backend, MySQL schema, frontend UI)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5257800" cy="2331720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931920"/>
            <a:ext cx="5257800" cy="38404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3192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ACKNOWLEDGEMENTS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8920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Department: </a:t>
            </a:r>
            <a:pPr indent="0" marL="0">
              <a:buNone/>
            </a:pPr>
            <a:r>
              <a:rPr lang="en-US" sz="10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Institution: </a:t>
            </a:r>
            <a:pPr indent="0" marL="0">
              <a:buNone/>
            </a:pPr>
            <a:r>
              <a:rPr lang="en-US" sz="1050" b="1" dirty="0">
                <a:solidFill>
                  <a:srgbClr val="0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Anurag University, Venkatapur, Ghatkesar, Hyderabad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Presenter: 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Vardhan Reddy (Roll No: 24EG105T07)
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Sincere gratitude to the Faculty Mentor, Evaluators, and Agronomy Collaborators for guidance in domain calibration and software architecture.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9632" y="1463040"/>
            <a:ext cx="52578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463040"/>
            <a:ext cx="5257800" cy="411480"/>
          </a:xfrm>
          <a:prstGeom prst="rect">
            <a:avLst/>
          </a:prstGeom>
          <a:solidFill>
            <a:srgbClr val="0A4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4630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&amp; REGULATORY REFERENCES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82512" y="1965960"/>
            <a:ext cx="4892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and Agriculture Organization (FAO) &amp; International Fertilizer Industry Association (IFA). (2016). "4R Plant Nutrition: A Manual for Improving the Management of Plant Nutrition". Rome, Italy.
</a:t>
            </a:r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Council of Agricultural Research (ICAR) - All India Coordinated Research Project on Soil Test Crop Response (AICRP-STCR). "Soil Test Based Fertilizer Recommendations for Targeted Crop Yields". New Delhi.
</a:t>
            </a:r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</a:t>
            </a:r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Fertiliser Association of India (FAI). (2022). "Fertiliser Statistics 2021-22: Crop Response Ratios and Macro-Micro Nutrient Consumption Trends". New Delhi.
</a:t>
            </a:r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</a:t>
            </a:r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Ground Water Board (CGWB), Ministry of Jal Shakti. (2021). "Groundwater Quality in Shallow Aquifers of India: Nitrate Concentration and Health Implications". Faridabad.
</a:t>
            </a:r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</a:t>
            </a:r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Prasad, R. (2009). "Efficient Fertilizer Use: The Key to Food Security and Environmental Quality". Indian Journal of Agronomy, 54(2), 101-109.
</a:t>
            </a:r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</a:t>
            </a:r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Agriculture and Farmers Welfare, Government of India. "Operational Guidelines: Soil Health Card Scheme". Krishi Bhawan, New Delhi.
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Anurag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AgriWise: AI-Based Smart Fertilizer Recommendation System</dc:title>
  <dc:subject>Precision Agronomy Decision Support System</dc:subject>
  <dc:creator>Sai Vardhan Reddy (24EG105T07)</dc:creator>
  <cp:lastModifiedBy>Sai Vardhan Reddy (24EG105T07)</cp:lastModifiedBy>
  <cp:revision>1</cp:revision>
  <dcterms:created xsi:type="dcterms:W3CDTF">2026-10-26T01:37:31Z</dcterms:created>
  <dcterms:modified xsi:type="dcterms:W3CDTF">2026-10-26T01:37:31Z</dcterms:modified>
</cp:coreProperties>
</file>